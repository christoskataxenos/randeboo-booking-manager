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79381" autoAdjust="0"/>
  </p:normalViewPr>
  <p:slideViewPr>
    <p:cSldViewPr snapToGrid="0">
      <p:cViewPr varScale="1">
        <p:scale>
          <a:sx n="122" d="100"/>
          <a:sy n="122" d="100"/>
        </p:scale>
        <p:origin x="1266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26/06/04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l-GR" b="1" dirty="0"/>
              <a:t>RandeBoo — Σύστημα Διαχείρισης Ραντεβού</a:t>
            </a:r>
          </a:p>
          <a:p>
            <a:endParaRPr lang="el-GR" dirty="0"/>
          </a:p>
          <a:p>
            <a:r>
              <a:rPr lang="el-GR" dirty="0"/>
              <a:t>Καλησπέρα σας. Σήμερα θα σας παρουσιάσουμε το RandeBoo, ένα ολοκληρωμένο </a:t>
            </a:r>
            <a:r>
              <a:rPr lang="el-GR" dirty="0" err="1"/>
              <a:t>desktop</a:t>
            </a:r>
            <a:r>
              <a:rPr lang="el-GR" dirty="0"/>
              <a:t> σύστημα διαχείρισης ραντεβού που αναπτύξαμε στα πλαίσια του μαθήματος ΗΛΕ 47.</a:t>
            </a:r>
          </a:p>
          <a:p>
            <a:endParaRPr lang="el-GR" dirty="0"/>
          </a:p>
          <a:p>
            <a:r>
              <a:rPr lang="el-GR" dirty="0"/>
              <a:t>Το RandeBoo σχεδιάστηκε για μικρομεσαίες επιχειρήσεις που βασίζονται σε ραντεβού — κομμωτήρια, ιατρεία, συμβουλευτικά γραφεία</a:t>
            </a:r>
            <a:r>
              <a:rPr lang="en-US" dirty="0"/>
              <a:t>, </a:t>
            </a:r>
            <a:r>
              <a:rPr lang="el-GR" dirty="0"/>
              <a:t>συνεργεία αυτοκινήτων — και στοχεύει στην αντικατάσταση χειρόγραφων βιβλίων και αποσπασματικών λύσεων με ένα ενιαίο, αξιόπιστο εργαλείο.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l-GR" b="1" dirty="0"/>
              <a:t>Τι πρόβλημα λύνει το RandeBoo;</a:t>
            </a:r>
          </a:p>
          <a:p>
            <a:endParaRPr lang="el-GR" dirty="0"/>
          </a:p>
          <a:p>
            <a:r>
              <a:rPr lang="el-GR" dirty="0"/>
              <a:t>Στην πράξη, πολλές μικρές επιχειρήσεις εξακολουθούν να χρησιμοποιούν χαρτί ή Excel για τα ραντεβού τους. Αυτό οδηγεί σε </a:t>
            </a:r>
            <a:r>
              <a:rPr lang="el-GR" dirty="0" err="1"/>
              <a:t>διπλοκρατήσεις</a:t>
            </a:r>
            <a:r>
              <a:rPr lang="el-GR" dirty="0"/>
              <a:t>, χαμένα ραντεβού και αδυναμία ανάλυσης δεδομένων.</a:t>
            </a:r>
          </a:p>
          <a:p>
            <a:endParaRPr lang="el-GR" dirty="0"/>
          </a:p>
          <a:p>
            <a:r>
              <a:rPr lang="el-GR" dirty="0"/>
              <a:t>Το RandeBoo προσφέρει 4 βασικούς πυλώνες:</a:t>
            </a:r>
          </a:p>
          <a:p>
            <a:r>
              <a:rPr lang="el-GR" dirty="0"/>
              <a:t>• Διαχείριση Πελατών — πλήρης καρτέλα με ιστορικό ραντεβού</a:t>
            </a:r>
          </a:p>
          <a:p>
            <a:r>
              <a:rPr lang="el-GR" dirty="0"/>
              <a:t>• Διαχείριση Προσωπικού — ειδικότητες, ωράρια, σύνδεση με υπηρεσίες</a:t>
            </a:r>
          </a:p>
          <a:p>
            <a:r>
              <a:rPr lang="el-GR" dirty="0"/>
              <a:t>• Αποφυγή </a:t>
            </a:r>
            <a:r>
              <a:rPr lang="el-GR" dirty="0" err="1"/>
              <a:t>Διπλοκρατήσεων</a:t>
            </a:r>
            <a:r>
              <a:rPr lang="el-GR" dirty="0"/>
              <a:t> — </a:t>
            </a:r>
            <a:r>
              <a:rPr lang="el-GR" dirty="0" err="1"/>
              <a:t>real-time</a:t>
            </a:r>
            <a:r>
              <a:rPr lang="el-GR" dirty="0"/>
              <a:t> έλεγχος διαθεσιμότητας</a:t>
            </a:r>
          </a:p>
          <a:p>
            <a:r>
              <a:rPr lang="el-GR" dirty="0"/>
              <a:t>• Αυτόματες Ειδοποιήσεις — email επιβεβαίωσης και υπενθύμισης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l-GR" b="1" dirty="0"/>
              <a:t>Τεχνολογικές Επιλογές</a:t>
            </a:r>
          </a:p>
          <a:p>
            <a:endParaRPr lang="el-GR" dirty="0"/>
          </a:p>
          <a:p>
            <a:r>
              <a:rPr lang="el-GR" dirty="0"/>
              <a:t>Χρησιμοποιήσαμε </a:t>
            </a:r>
            <a:r>
              <a:rPr lang="el-GR" dirty="0" err="1"/>
              <a:t>Python</a:t>
            </a:r>
            <a:r>
              <a:rPr lang="el-GR" dirty="0"/>
              <a:t> + </a:t>
            </a:r>
            <a:r>
              <a:rPr lang="el-GR" dirty="0" err="1"/>
              <a:t>Tkinter</a:t>
            </a:r>
            <a:r>
              <a:rPr lang="el-GR" dirty="0"/>
              <a:t> για το GUI</a:t>
            </a:r>
          </a:p>
          <a:p>
            <a:endParaRPr lang="el-GR" dirty="0"/>
          </a:p>
          <a:p>
            <a:r>
              <a:rPr lang="el-GR" dirty="0"/>
              <a:t>Σημαντικό: Σχεδιάσαμε Ενιαίο Παράθυρο (SPA </a:t>
            </a:r>
            <a:r>
              <a:rPr lang="el-GR" dirty="0" err="1"/>
              <a:t>pattern</a:t>
            </a:r>
            <a:r>
              <a:rPr lang="el-GR" dirty="0"/>
              <a:t>) αντί για πολλαπλά </a:t>
            </a:r>
            <a:r>
              <a:rPr lang="el-GR" dirty="0" err="1"/>
              <a:t>Toplevel</a:t>
            </a:r>
            <a:r>
              <a:rPr lang="el-GR" dirty="0"/>
              <a:t> </a:t>
            </a:r>
            <a:r>
              <a:rPr lang="el-GR" dirty="0" err="1"/>
              <a:t>windows</a:t>
            </a:r>
            <a:r>
              <a:rPr lang="el-GR" dirty="0"/>
              <a:t> που είναι το</a:t>
            </a:r>
            <a:r>
              <a:rPr lang="en-US" dirty="0"/>
              <a:t> default </a:t>
            </a:r>
            <a:r>
              <a:rPr lang="el-GR" dirty="0"/>
              <a:t>της </a:t>
            </a:r>
            <a:r>
              <a:rPr lang="en-US" dirty="0" err="1"/>
              <a:t>Tkinter</a:t>
            </a:r>
            <a:r>
              <a:rPr lang="el-GR" dirty="0"/>
              <a:t>  — αυτό κάνει τεράστια διαφορά στο UX.</a:t>
            </a:r>
          </a:p>
          <a:p>
            <a:endParaRPr lang="el-GR" dirty="0"/>
          </a:p>
          <a:p>
            <a:r>
              <a:rPr lang="el-GR" dirty="0" err="1"/>
              <a:t>SQLite</a:t>
            </a:r>
            <a:r>
              <a:rPr lang="el-GR" dirty="0"/>
              <a:t>: Ιδανική για </a:t>
            </a:r>
            <a:r>
              <a:rPr lang="el-GR" dirty="0" err="1"/>
              <a:t>standalone</a:t>
            </a:r>
            <a:r>
              <a:rPr lang="el-GR" dirty="0"/>
              <a:t> </a:t>
            </a:r>
            <a:r>
              <a:rPr lang="el-GR" dirty="0" err="1"/>
              <a:t>desktop</a:t>
            </a:r>
            <a:r>
              <a:rPr lang="el-GR" dirty="0"/>
              <a:t> </a:t>
            </a:r>
            <a:r>
              <a:rPr lang="el-GR" dirty="0" err="1"/>
              <a:t>app</a:t>
            </a:r>
            <a:r>
              <a:rPr lang="el-GR" dirty="0"/>
              <a:t> — </a:t>
            </a:r>
            <a:r>
              <a:rPr lang="el-GR" dirty="0" err="1"/>
              <a:t>zero</a:t>
            </a:r>
            <a:r>
              <a:rPr lang="el-GR" dirty="0"/>
              <a:t> </a:t>
            </a:r>
            <a:r>
              <a:rPr lang="el-GR" dirty="0" err="1"/>
              <a:t>configuration</a:t>
            </a:r>
            <a:r>
              <a:rPr lang="el-GR" dirty="0"/>
              <a:t>, ένα αρχείο .</a:t>
            </a:r>
            <a:r>
              <a:rPr lang="el-GR" dirty="0" err="1"/>
              <a:t>db</a:t>
            </a:r>
            <a:r>
              <a:rPr lang="el-GR" dirty="0"/>
              <a:t>, </a:t>
            </a:r>
            <a:r>
              <a:rPr lang="el-G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Παραμετροποιημένα</a:t>
            </a:r>
            <a:r>
              <a:rPr lang="el-G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ερωτήματα </a:t>
            </a:r>
            <a:r>
              <a:rPr lang="el-GR" dirty="0"/>
              <a:t>για SQL </a:t>
            </a:r>
            <a:r>
              <a:rPr lang="el-GR" dirty="0" err="1"/>
              <a:t>injection</a:t>
            </a:r>
            <a:r>
              <a:rPr lang="el-GR" dirty="0"/>
              <a:t> </a:t>
            </a:r>
            <a:r>
              <a:rPr lang="el-GR" dirty="0" err="1"/>
              <a:t>prevention</a:t>
            </a:r>
            <a:r>
              <a:rPr lang="el-GR" dirty="0"/>
              <a:t>.</a:t>
            </a:r>
          </a:p>
          <a:p>
            <a:endParaRPr lang="el-GR" dirty="0"/>
          </a:p>
          <a:p>
            <a:r>
              <a:rPr lang="el-GR" dirty="0" err="1"/>
              <a:t>PyInstaller</a:t>
            </a:r>
            <a:r>
              <a:rPr lang="el-GR" dirty="0"/>
              <a:t> και χρήση .</a:t>
            </a:r>
            <a:r>
              <a:rPr lang="en-US" dirty="0"/>
              <a:t>spec </a:t>
            </a:r>
            <a:r>
              <a:rPr lang="el-GR" dirty="0"/>
              <a:t>: Μας επέτρεψε να δημιουργήσουμε </a:t>
            </a:r>
            <a:r>
              <a:rPr lang="el-GR" dirty="0" err="1"/>
              <a:t>standalone</a:t>
            </a:r>
            <a:r>
              <a:rPr lang="el-GR" dirty="0"/>
              <a:t> .</a:t>
            </a:r>
            <a:r>
              <a:rPr lang="el-GR" dirty="0" err="1"/>
              <a:t>exe</a:t>
            </a:r>
            <a:r>
              <a:rPr lang="el-GR" dirty="0"/>
              <a:t> χωρίς ο χρήστης να χρειάζεται </a:t>
            </a:r>
            <a:r>
              <a:rPr lang="el-GR" dirty="0" err="1"/>
              <a:t>Python</a:t>
            </a:r>
            <a:r>
              <a:rPr lang="el-GR" dirty="0"/>
              <a:t> εγκατάσταση.</a:t>
            </a:r>
            <a:r>
              <a:rPr lang="en-US" dirty="0"/>
              <a:t> </a:t>
            </a:r>
            <a:r>
              <a:rPr lang="el-GR" dirty="0"/>
              <a:t>Λόγο χρήσης δυναμικής βιβλιοθήκης(</a:t>
            </a:r>
            <a:r>
              <a:rPr lang="en-US" dirty="0"/>
              <a:t>Holidays) </a:t>
            </a:r>
            <a:r>
              <a:rPr lang="el-GR" dirty="0"/>
              <a:t>χωρίς το </a:t>
            </a:r>
            <a:r>
              <a:rPr lang="en-US" dirty="0"/>
              <a:t>spec </a:t>
            </a:r>
            <a:r>
              <a:rPr lang="el-GR" dirty="0"/>
              <a:t>δεν μπορούσε να γίνει </a:t>
            </a:r>
            <a:r>
              <a:rPr lang="en-US" dirty="0"/>
              <a:t>Import </a:t>
            </a:r>
            <a:r>
              <a:rPr lang="el-GR" dirty="0"/>
              <a:t>κατά την </a:t>
            </a:r>
            <a:r>
              <a:rPr lang="el-GR" dirty="0" err="1"/>
              <a:t>δημιούργια</a:t>
            </a:r>
            <a:r>
              <a:rPr lang="el-GR" dirty="0"/>
              <a:t> του </a:t>
            </a:r>
            <a:r>
              <a:rPr lang="en-US" dirty="0"/>
              <a:t>exe </a:t>
            </a:r>
            <a:r>
              <a:rPr lang="el-GR" dirty="0"/>
              <a:t>και δεν δούλευε η εφαρμογή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l-G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Σχεδιασμός Βάσης Δεδομένων (</a:t>
            </a:r>
            <a:r>
              <a:rPr lang="el-GR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SQLite</a:t>
            </a:r>
            <a:r>
              <a:rPr lang="el-G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endParaRPr lang="el-G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l-G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Η βάση δεδομένων ακολουθεί τη </a:t>
            </a:r>
            <a:r>
              <a:rPr lang="el-G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σχεσιακή δομή</a:t>
            </a:r>
            <a:r>
              <a:rPr lang="el-G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</a:t>
            </a:r>
            <a:r>
              <a:rPr lang="el-G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Relational</a:t>
            </a:r>
            <a:r>
              <a:rPr lang="el-G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l-G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Database</a:t>
            </a:r>
            <a:r>
              <a:rPr lang="el-G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με χρήση της </a:t>
            </a:r>
            <a:r>
              <a:rPr lang="el-GR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SQLite</a:t>
            </a:r>
            <a:r>
              <a:rPr lang="el-G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για ελαφρύ και φορητό αποτύπωμα (</a:t>
            </a:r>
            <a:r>
              <a:rPr lang="el-G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zero-configuration</a:t>
            </a:r>
            <a:r>
              <a:rPr lang="el-G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).</a:t>
            </a:r>
          </a:p>
          <a:p>
            <a:r>
              <a:rPr lang="el-G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Αποτελείται από </a:t>
            </a:r>
            <a:r>
              <a:rPr lang="el-G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 κύριους πίνακες</a:t>
            </a:r>
            <a:r>
              <a:rPr lang="el-G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(όπως φαίνονται στο ERD):</a:t>
            </a:r>
          </a:p>
          <a:p>
            <a:pPr lvl="1"/>
            <a:r>
              <a:rPr lang="el-GR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Customers</a:t>
            </a:r>
            <a:r>
              <a:rPr lang="el-G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r>
              <a:rPr lang="el-G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Στοιχεία πελατών.</a:t>
            </a:r>
          </a:p>
          <a:p>
            <a:pPr lvl="1"/>
            <a:r>
              <a:rPr lang="el-GR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Employees</a:t>
            </a:r>
            <a:r>
              <a:rPr lang="el-G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r>
              <a:rPr lang="el-G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Στοιχεία και ειδικότητες υπαλλήλων.</a:t>
            </a:r>
          </a:p>
          <a:p>
            <a:pPr lvl="1"/>
            <a:r>
              <a:rPr lang="el-GR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Appointments</a:t>
            </a:r>
            <a:r>
              <a:rPr lang="el-G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r>
              <a:rPr lang="el-G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Συσχετίζει πελάτες, υπαλλήλους και χρήστες (με Foreign </a:t>
            </a:r>
            <a:r>
              <a:rPr lang="el-G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Keys</a:t>
            </a:r>
            <a:r>
              <a:rPr lang="el-G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).</a:t>
            </a:r>
          </a:p>
          <a:p>
            <a:pPr lvl="1"/>
            <a:r>
              <a:rPr lang="el-GR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Users</a:t>
            </a:r>
            <a:r>
              <a:rPr lang="el-G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r>
              <a:rPr lang="el-G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Λογαριασμοί των χρηστών του συστήματος.</a:t>
            </a:r>
          </a:p>
          <a:p>
            <a:pPr lvl="1"/>
            <a:r>
              <a:rPr lang="el-GR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Roles</a:t>
            </a:r>
            <a:r>
              <a:rPr lang="el-G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r>
              <a:rPr lang="el-G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Ρόλοι χρηστών (π.χ. Admin, </a:t>
            </a:r>
            <a:r>
              <a:rPr lang="el-G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Employee</a:t>
            </a:r>
            <a:r>
              <a:rPr lang="el-G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για έλεγχο προσβάσεων (RBAC).</a:t>
            </a:r>
          </a:p>
          <a:p>
            <a:pPr lvl="1"/>
            <a:r>
              <a:rPr lang="el-GR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User</a:t>
            </a:r>
            <a:r>
              <a:rPr lang="el-G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l-GR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Logins</a:t>
            </a:r>
            <a:r>
              <a:rPr lang="el-G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r>
              <a:rPr lang="el-G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l-G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Audit</a:t>
            </a:r>
            <a:r>
              <a:rPr lang="el-G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l-G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log</a:t>
            </a:r>
            <a:r>
              <a:rPr lang="el-G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για την καταγραφή των εισόδων/εξόδων στο σύστημα.</a:t>
            </a:r>
          </a:p>
          <a:p>
            <a:r>
              <a:rPr lang="el-G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Περιορισμοί (</a:t>
            </a:r>
            <a:r>
              <a:rPr lang="el-GR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Constraints</a:t>
            </a:r>
            <a:r>
              <a:rPr lang="el-G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):</a:t>
            </a:r>
            <a:r>
              <a:rPr lang="el-G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Εφαρμογή κανόνων UNIQUE (π.χ. μοναδικά </a:t>
            </a:r>
            <a:r>
              <a:rPr lang="el-G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emails</a:t>
            </a:r>
            <a:r>
              <a:rPr lang="el-G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l-G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usernames</a:t>
            </a:r>
            <a:r>
              <a:rPr lang="el-G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και NOT NULL για τη διασφάλιση της ποιότητας των δεδομένων.</a:t>
            </a:r>
          </a:p>
          <a:p>
            <a:r>
              <a:rPr lang="el-G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Ασφάλεια:</a:t>
            </a:r>
            <a:r>
              <a:rPr lang="el-G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Οι κωδικοί πρόσβασης στον πίνακα USERS αποθηκεύονται κρυπτογραφημένοι με τη χρήση της βιβλιοθήκης </a:t>
            </a:r>
            <a:r>
              <a:rPr lang="el-GR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bcrypt</a:t>
            </a:r>
            <a:r>
              <a:rPr lang="el-G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</a:t>
            </a:r>
            <a:r>
              <a:rPr lang="el-G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salted</a:t>
            </a:r>
            <a:r>
              <a:rPr lang="el-G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l-G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hashing</a:t>
            </a:r>
            <a:r>
              <a:rPr lang="el-G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l-GR" b="1" dirty="0"/>
              <a:t>Ασφάλεια &amp; Πρόσβαση</a:t>
            </a:r>
          </a:p>
          <a:p>
            <a:endParaRPr lang="el-GR" dirty="0"/>
          </a:p>
          <a:p>
            <a:r>
              <a:rPr lang="el-GR" dirty="0"/>
              <a:t>Η ασφάλεια βασίζεται σε </a:t>
            </a:r>
            <a:r>
              <a:rPr lang="el-GR" dirty="0" err="1"/>
              <a:t>Role-Based</a:t>
            </a:r>
            <a:r>
              <a:rPr lang="el-GR" dirty="0"/>
              <a:t> Access </a:t>
            </a:r>
            <a:r>
              <a:rPr lang="el-GR" dirty="0" err="1"/>
              <a:t>Control</a:t>
            </a:r>
            <a:r>
              <a:rPr lang="el-GR" dirty="0"/>
              <a:t> (RBAC):</a:t>
            </a:r>
          </a:p>
          <a:p>
            <a:r>
              <a:rPr lang="el-GR" dirty="0"/>
              <a:t>• Admin: Πλήρη δικαιώματα — διαχείριση χρηστών, ρυθμίσεις, αναφορές</a:t>
            </a:r>
          </a:p>
          <a:p>
            <a:r>
              <a:rPr lang="el-GR" dirty="0"/>
              <a:t>• </a:t>
            </a:r>
            <a:r>
              <a:rPr lang="el-GR" dirty="0" err="1"/>
              <a:t>Employee</a:t>
            </a:r>
            <a:r>
              <a:rPr lang="el-GR" dirty="0"/>
              <a:t>: Βλέπει μόνο τα δικά του ραντεβού, δεν μπορεί να αλλάξει ρυθμίσεις</a:t>
            </a:r>
          </a:p>
          <a:p>
            <a:endParaRPr lang="el-GR" dirty="0"/>
          </a:p>
          <a:p>
            <a:r>
              <a:rPr lang="el-GR" dirty="0"/>
              <a:t>Οι κωδικοί αποθηκεύονται με </a:t>
            </a:r>
            <a:r>
              <a:rPr lang="el-GR" dirty="0" err="1"/>
              <a:t>bcrypt</a:t>
            </a:r>
            <a:r>
              <a:rPr lang="el-GR" dirty="0"/>
              <a:t> </a:t>
            </a:r>
            <a:r>
              <a:rPr lang="el-GR" dirty="0" err="1"/>
              <a:t>hashing</a:t>
            </a:r>
            <a:r>
              <a:rPr lang="el-GR" dirty="0"/>
              <a:t> — δεν υπάρχουν </a:t>
            </a:r>
            <a:r>
              <a:rPr lang="el-GR" dirty="0" err="1"/>
              <a:t>plaintext</a:t>
            </a:r>
            <a:r>
              <a:rPr lang="el-GR" dirty="0"/>
              <a:t> </a:t>
            </a:r>
            <a:r>
              <a:rPr lang="el-GR" dirty="0" err="1"/>
              <a:t>passwords</a:t>
            </a:r>
            <a:r>
              <a:rPr lang="el-GR" dirty="0"/>
              <a:t> στη βάση.</a:t>
            </a:r>
          </a:p>
          <a:p>
            <a:endParaRPr lang="el-GR" dirty="0"/>
          </a:p>
          <a:p>
            <a:r>
              <a:rPr lang="el-GR" dirty="0"/>
              <a:t>Κατά τη σύνδεση, ο χρήστης ανακατευθύνεται αυτόματα στο κατάλληλο </a:t>
            </a:r>
            <a:r>
              <a:rPr lang="el-GR" dirty="0" err="1"/>
              <a:t>dashboard</a:t>
            </a:r>
            <a:r>
              <a:rPr lang="el-GR" dirty="0"/>
              <a:t> βάσει ρόλου.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l-GR" b="1"/>
              <a:t>Διαχείριση Ραντεβού — Το Core Feature</a:t>
            </a:r>
          </a:p>
          <a:p>
            <a:endParaRPr lang="el-GR"/>
          </a:p>
          <a:p>
            <a:r>
              <a:rPr lang="el-GR"/>
              <a:t>Αυτό είναι η καρδιά της εφαρμογής.</a:t>
            </a:r>
          </a:p>
          <a:p>
            <a:endParaRPr lang="el-GR"/>
          </a:p>
          <a:p>
            <a:r>
              <a:rPr lang="el-GR"/>
              <a:t>Ο έλεγχος διαθεσιμότητας γίνεται σε πραγματικό χρόνο: πριν επιβεβαιωθεί ένα ραντεβού, ελέγχουμε αν ο υπάλληλος είναι ήδη κλεισμένος εκείνη τη στιγμή.</a:t>
            </a:r>
          </a:p>
          <a:p>
            <a:endParaRPr lang="el-GR"/>
          </a:p>
          <a:p>
            <a:r>
              <a:rPr lang="el-GR"/>
              <a:t>Λαμβάνουμε υπόψη:</a:t>
            </a:r>
          </a:p>
          <a:p>
            <a:r>
              <a:rPr lang="el-GR"/>
              <a:t>• Εθνικές αργίες μέσω του holidays library (ελληνικές αργίες)</a:t>
            </a:r>
          </a:p>
          <a:p>
            <a:r>
              <a:rPr lang="el-GR"/>
              <a:t>• Ωράριο λειτουργίας που ορίζεται στις ρυθμίσεις</a:t>
            </a:r>
          </a:p>
          <a:p>
            <a:r>
              <a:rPr lang="el-GR"/>
              <a:t>• Ρεπό υπαλλήλων</a:t>
            </a:r>
          </a:p>
          <a:p>
            <a:endParaRPr lang="el-GR"/>
          </a:p>
          <a:p>
            <a:r>
              <a:rPr lang="el-GR"/>
              <a:t>Το Quick Booking επιτρέπει γρήγορη κράτηση με έξυπνα φίλτρα — ιδανικό για τηλεφωνικές κρατήσεις.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l-GR" b="1"/>
              <a:t>Μητρώα Πελατών &amp; Προσωπικού</a:t>
            </a:r>
          </a:p>
          <a:p>
            <a:endParaRPr lang="el-GR"/>
          </a:p>
          <a:p>
            <a:r>
              <a:rPr lang="el-GR"/>
              <a:t>Πλήρης κύκλος CRUD σε πελάτες και υπαλλήλους.</a:t>
            </a:r>
          </a:p>
          <a:p>
            <a:endParaRPr lang="el-GR"/>
          </a:p>
          <a:p>
            <a:r>
              <a:rPr lang="el-GR"/>
              <a:t>Live filtering: Καθώς πληκτρολογεί ο χρήστης, τα αποτελέσματα φιλτράρονται αυτόματα — δεν χρειάζεται κουμπί αναζήτησης.</a:t>
            </a:r>
          </a:p>
          <a:p>
            <a:endParaRPr lang="el-GR"/>
          </a:p>
          <a:p>
            <a:r>
              <a:rPr lang="el-GR"/>
              <a:t>Cascade διαγραφές: Αν διαγραφεί ένας υπάλληλος, τα συνδεδεμένα ραντεβού του ενημερώνονται αυτόματα.</a:t>
            </a:r>
          </a:p>
          <a:p>
            <a:endParaRPr lang="el-GR"/>
          </a:p>
          <a:p>
            <a:r>
              <a:rPr lang="el-GR"/>
              <a:t>Κάθε υπάλληλος συνδέεται με συγκεκριμένες υπηρεσίες/ειδικότητες, οπότε κατά την κράτηση εμφανίζονται μόνο οι κατάλληλοι υπάλληλοι.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l-GR" b="1" dirty="0"/>
              <a:t>Αναζήτηση &amp; Στατιστικά</a:t>
            </a:r>
          </a:p>
          <a:p>
            <a:endParaRPr lang="el-GR" dirty="0"/>
          </a:p>
          <a:p>
            <a:r>
              <a:rPr lang="el-GR" dirty="0"/>
              <a:t>Σύνθετα φίλτρα αναζήτησης: Μπορείτε να ψάξετε ραντεβού κατά ημερομηνία, κατάσταση, υπάλληλο ή υπηρεσία.</a:t>
            </a:r>
          </a:p>
          <a:p>
            <a:endParaRPr lang="el-GR" dirty="0"/>
          </a:p>
          <a:p>
            <a:r>
              <a:rPr lang="el-GR" dirty="0" err="1"/>
              <a:t>Οπτικοποίηση</a:t>
            </a:r>
            <a:r>
              <a:rPr lang="el-GR" dirty="0"/>
              <a:t> δεδομένων με </a:t>
            </a:r>
            <a:r>
              <a:rPr lang="el-GR" dirty="0" err="1"/>
              <a:t>Matplotlib</a:t>
            </a:r>
            <a:r>
              <a:rPr lang="el-GR" dirty="0"/>
              <a:t>:</a:t>
            </a:r>
          </a:p>
          <a:p>
            <a:r>
              <a:rPr lang="el-GR" dirty="0"/>
              <a:t>• Top 10 πελάτες βάσει ραντεβού</a:t>
            </a:r>
          </a:p>
          <a:p>
            <a:r>
              <a:rPr lang="el-GR" dirty="0"/>
              <a:t>• Απόδοση υπαλλήλων</a:t>
            </a:r>
          </a:p>
          <a:p>
            <a:r>
              <a:rPr lang="el-GR" dirty="0"/>
              <a:t>• Ραντεβού </a:t>
            </a:r>
            <a:r>
              <a:rPr lang="el-GR" dirty="0" err="1"/>
              <a:t>ανα</a:t>
            </a:r>
            <a:r>
              <a:rPr lang="el-GR" dirty="0"/>
              <a:t> ημέρα και </a:t>
            </a:r>
            <a:r>
              <a:rPr lang="el-GR" dirty="0" err="1"/>
              <a:t>ανα</a:t>
            </a:r>
            <a:r>
              <a:rPr lang="el-GR" dirty="0"/>
              <a:t> μήνα</a:t>
            </a:r>
          </a:p>
          <a:p>
            <a:endParaRPr lang="el-GR" dirty="0"/>
          </a:p>
          <a:p>
            <a:r>
              <a:rPr lang="el-GR" dirty="0"/>
              <a:t>Εξαγωγή αναφορών: Τα δεδομένα μπορούν να εξαχθούν σε PDF, Excel ή CSV μέσω του export_data.py — χρήσιμο για λογιστικούς ελέγχους.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l-GR" b="1" dirty="0"/>
              <a:t>Ρυθμίσεις, Email &amp; </a:t>
            </a:r>
            <a:r>
              <a:rPr lang="el-GR" b="1" dirty="0" err="1"/>
              <a:t>Backup</a:t>
            </a:r>
            <a:endParaRPr lang="el-GR" b="1" dirty="0"/>
          </a:p>
          <a:p>
            <a:endParaRPr lang="el-GR" dirty="0"/>
          </a:p>
          <a:p>
            <a:r>
              <a:rPr lang="el-GR" dirty="0"/>
              <a:t>Παραμετροποίηση: Η εφαρμογή προσαρμόζεται πλήρως — ωράριο λειτουργίας, ημέρες ρεπό, ελληνικές αργίες.</a:t>
            </a:r>
          </a:p>
          <a:p>
            <a:endParaRPr lang="el-GR" dirty="0"/>
          </a:p>
          <a:p>
            <a:r>
              <a:rPr lang="el-GR" dirty="0"/>
              <a:t>Email </a:t>
            </a:r>
            <a:r>
              <a:rPr lang="el-GR" dirty="0" err="1"/>
              <a:t>Service</a:t>
            </a:r>
            <a:r>
              <a:rPr lang="el-GR" dirty="0"/>
              <a:t>: Αυτόματα email επιβεβαίωσης και υπενθύμισης με .</a:t>
            </a:r>
            <a:r>
              <a:rPr lang="el-GR" dirty="0" err="1"/>
              <a:t>ics</a:t>
            </a:r>
            <a:r>
              <a:rPr lang="el-GR" dirty="0"/>
              <a:t> αρχεία (ο πελάτης προσθέτει το ραντεβού κατευθείαν στο ημερολόγιό του).</a:t>
            </a:r>
          </a:p>
          <a:p>
            <a:endParaRPr lang="el-GR" dirty="0"/>
          </a:p>
          <a:p>
            <a:r>
              <a:rPr lang="el-GR" dirty="0"/>
              <a:t>Σημαντικό: Τα email στέλνονται ασύγχρονα σε </a:t>
            </a:r>
            <a:r>
              <a:rPr lang="el-GR" dirty="0" err="1"/>
              <a:t>background</a:t>
            </a:r>
            <a:r>
              <a:rPr lang="el-GR" dirty="0"/>
              <a:t> </a:t>
            </a:r>
            <a:r>
              <a:rPr lang="el-GR" dirty="0" err="1"/>
              <a:t>thread</a:t>
            </a:r>
            <a:r>
              <a:rPr lang="el-GR" dirty="0"/>
              <a:t>, ώστε να μην παγώνει το UI κατά την αποστολή.</a:t>
            </a:r>
          </a:p>
          <a:p>
            <a:endParaRPr lang="el-GR" dirty="0"/>
          </a:p>
          <a:p>
            <a:r>
              <a:rPr lang="el-GR" dirty="0" err="1"/>
              <a:t>Backup</a:t>
            </a:r>
            <a:r>
              <a:rPr lang="el-GR" dirty="0"/>
              <a:t>/</a:t>
            </a:r>
            <a:r>
              <a:rPr lang="el-GR" dirty="0" err="1"/>
              <a:t>Restore</a:t>
            </a:r>
            <a:r>
              <a:rPr lang="el-GR" dirty="0"/>
              <a:t>: Αυτόματο </a:t>
            </a:r>
            <a:r>
              <a:rPr lang="el-GR" dirty="0" err="1"/>
              <a:t>backup</a:t>
            </a:r>
            <a:r>
              <a:rPr lang="el-GR" dirty="0"/>
              <a:t> σε κάθε εκκίνηση + χειροκίνητο </a:t>
            </a:r>
            <a:r>
              <a:rPr lang="el-GR" dirty="0" err="1"/>
              <a:t>backup</a:t>
            </a:r>
            <a:r>
              <a:rPr lang="el-GR" dirty="0"/>
              <a:t>/</a:t>
            </a:r>
            <a:r>
              <a:rPr lang="el-GR" dirty="0" err="1"/>
              <a:t>restore</a:t>
            </a:r>
            <a:r>
              <a:rPr lang="el-GR" dirty="0"/>
              <a:t>. Κρίσιμο για επιχειρήσεις που δεν μπορούν να χάσουν δεδομένα.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l-GR" b="1" dirty="0"/>
              <a:t>Προκλήσεις κατά την Υλοποίηση</a:t>
            </a:r>
          </a:p>
          <a:p>
            <a:endParaRPr lang="el-GR" dirty="0"/>
          </a:p>
          <a:p>
            <a:r>
              <a:rPr lang="el-GR" b="1" dirty="0"/>
              <a:t>1. </a:t>
            </a:r>
            <a:r>
              <a:rPr lang="el-GR" b="1" dirty="0" err="1"/>
              <a:t>PyInstaller</a:t>
            </a:r>
            <a:r>
              <a:rPr lang="el-GR" b="1" dirty="0"/>
              <a:t> &amp; </a:t>
            </a:r>
            <a:r>
              <a:rPr lang="el-GR" b="1" dirty="0" err="1"/>
              <a:t>holidays</a:t>
            </a:r>
            <a:endParaRPr lang="el-GR" b="1" dirty="0"/>
          </a:p>
          <a:p>
            <a:r>
              <a:rPr lang="el-GR" dirty="0"/>
              <a:t>Πρόβλημα: Το </a:t>
            </a:r>
            <a:r>
              <a:rPr lang="el-GR" dirty="0" err="1"/>
              <a:t>holidays</a:t>
            </a:r>
            <a:r>
              <a:rPr lang="el-GR" dirty="0"/>
              <a:t> </a:t>
            </a:r>
            <a:r>
              <a:rPr lang="el-GR" dirty="0" err="1"/>
              <a:t>module</a:t>
            </a:r>
            <a:r>
              <a:rPr lang="el-GR" dirty="0"/>
              <a:t> δεν συμπεριλαμβανόταν στο </a:t>
            </a:r>
            <a:r>
              <a:rPr lang="el-GR" dirty="0" err="1"/>
              <a:t>build</a:t>
            </a:r>
            <a:r>
              <a:rPr lang="el-GR" dirty="0"/>
              <a:t> — η εφαρμογή </a:t>
            </a:r>
            <a:r>
              <a:rPr lang="el-GR" dirty="0" err="1"/>
              <a:t>κρασάριζε</a:t>
            </a:r>
            <a:r>
              <a:rPr lang="el-GR" dirty="0"/>
              <a:t> όταν προσπαθούσε να ελέγξει αργίες.</a:t>
            </a:r>
          </a:p>
          <a:p>
            <a:r>
              <a:rPr lang="el-GR" dirty="0"/>
              <a:t>Λύση: Προσθέσαμε </a:t>
            </a:r>
            <a:r>
              <a:rPr lang="el-GR" dirty="0" err="1"/>
              <a:t>hidden</a:t>
            </a:r>
            <a:r>
              <a:rPr lang="el-GR" dirty="0"/>
              <a:t> </a:t>
            </a:r>
            <a:r>
              <a:rPr lang="el-GR" dirty="0" err="1"/>
              <a:t>imports</a:t>
            </a:r>
            <a:r>
              <a:rPr lang="el-GR" dirty="0"/>
              <a:t> στο .</a:t>
            </a:r>
            <a:r>
              <a:rPr lang="el-GR" dirty="0" err="1"/>
              <a:t>spec</a:t>
            </a:r>
            <a:r>
              <a:rPr lang="el-GR" dirty="0"/>
              <a:t> αρχείο του </a:t>
            </a:r>
            <a:r>
              <a:rPr lang="el-GR" dirty="0" err="1"/>
              <a:t>PyInstaller</a:t>
            </a:r>
            <a:r>
              <a:rPr lang="el-GR" dirty="0"/>
              <a:t>.</a:t>
            </a:r>
          </a:p>
          <a:p>
            <a:endParaRPr lang="el-GR" dirty="0"/>
          </a:p>
          <a:p>
            <a:r>
              <a:rPr lang="el-GR" b="1" dirty="0"/>
              <a:t>2. </a:t>
            </a:r>
            <a:r>
              <a:rPr lang="el-GR" b="1" dirty="0" err="1"/>
              <a:t>Single</a:t>
            </a:r>
            <a:r>
              <a:rPr lang="el-GR" b="1" dirty="0"/>
              <a:t> </a:t>
            </a:r>
            <a:r>
              <a:rPr lang="el-GR" b="1" dirty="0" err="1"/>
              <a:t>Page</a:t>
            </a:r>
            <a:r>
              <a:rPr lang="el-GR" b="1" dirty="0"/>
              <a:t> UI</a:t>
            </a:r>
          </a:p>
          <a:p>
            <a:r>
              <a:rPr lang="el-GR" dirty="0"/>
              <a:t>Πρόβλημα: Η </a:t>
            </a:r>
            <a:r>
              <a:rPr lang="el-GR" dirty="0" err="1"/>
              <a:t>default</a:t>
            </a:r>
            <a:r>
              <a:rPr lang="el-GR" dirty="0"/>
              <a:t> τάση στο </a:t>
            </a:r>
            <a:r>
              <a:rPr lang="el-GR" dirty="0" err="1"/>
              <a:t>Tkinter</a:t>
            </a:r>
            <a:r>
              <a:rPr lang="el-GR" dirty="0"/>
              <a:t> είναι </a:t>
            </a:r>
            <a:r>
              <a:rPr lang="el-GR" dirty="0" err="1"/>
              <a:t>Toplevel</a:t>
            </a:r>
            <a:r>
              <a:rPr lang="el-GR" dirty="0"/>
              <a:t> </a:t>
            </a:r>
            <a:r>
              <a:rPr lang="el-GR" dirty="0" err="1"/>
              <a:t>windows</a:t>
            </a:r>
            <a:r>
              <a:rPr lang="el-GR" dirty="0"/>
              <a:t> παντού — χαοτικό UI, προβλήματα </a:t>
            </a:r>
            <a:r>
              <a:rPr lang="el-GR" dirty="0" err="1"/>
              <a:t>focus</a:t>
            </a:r>
            <a:r>
              <a:rPr lang="el-GR" dirty="0"/>
              <a:t>.</a:t>
            </a:r>
          </a:p>
          <a:p>
            <a:r>
              <a:rPr lang="el-GR" dirty="0"/>
              <a:t>Λύση: Σχεδιάσαμε SPA </a:t>
            </a:r>
            <a:r>
              <a:rPr lang="el-GR" dirty="0" err="1"/>
              <a:t>pattern</a:t>
            </a:r>
            <a:r>
              <a:rPr lang="el-GR" dirty="0"/>
              <a:t> — δυναμικός καθαρισμός και φόρτωση </a:t>
            </a:r>
            <a:r>
              <a:rPr lang="el-GR" dirty="0" err="1"/>
              <a:t>Frames</a:t>
            </a:r>
            <a:r>
              <a:rPr lang="el-GR" dirty="0"/>
              <a:t> σε κεντρικό </a:t>
            </a:r>
            <a:r>
              <a:rPr lang="el-GR" dirty="0" err="1"/>
              <a:t>container</a:t>
            </a:r>
            <a:r>
              <a:rPr lang="el-GR" dirty="0"/>
              <a:t>.</a:t>
            </a:r>
          </a:p>
          <a:p>
            <a:endParaRPr lang="el-GR" dirty="0"/>
          </a:p>
          <a:p>
            <a:r>
              <a:rPr lang="el-GR" b="1" dirty="0"/>
              <a:t>3. </a:t>
            </a:r>
            <a:r>
              <a:rPr lang="el-GR" b="1" dirty="0" err="1"/>
              <a:t>Safe</a:t>
            </a:r>
            <a:r>
              <a:rPr lang="el-GR" b="1" dirty="0"/>
              <a:t> </a:t>
            </a:r>
            <a:r>
              <a:rPr lang="el-GR" b="1" dirty="0" err="1"/>
              <a:t>Mode</a:t>
            </a:r>
            <a:r>
              <a:rPr lang="el-GR" b="1" dirty="0"/>
              <a:t> </a:t>
            </a:r>
            <a:r>
              <a:rPr lang="el-GR" b="1" dirty="0" err="1"/>
              <a:t>Recovery</a:t>
            </a:r>
            <a:endParaRPr lang="el-GR" b="1" dirty="0"/>
          </a:p>
          <a:p>
            <a:r>
              <a:rPr lang="el-GR" dirty="0"/>
              <a:t>Πρόβλημα: Κατεστραμμένη βάση μετά από απρόσμενο κλείσιμο (π.χ. διακοπή ρεύματος).</a:t>
            </a:r>
          </a:p>
          <a:p>
            <a:r>
              <a:rPr lang="el-GR" dirty="0"/>
              <a:t>Λύση: Αυτόματος μηχανισμός </a:t>
            </a:r>
            <a:r>
              <a:rPr lang="el-GR" dirty="0" err="1"/>
              <a:t>backup</a:t>
            </a:r>
            <a:r>
              <a:rPr lang="el-GR" dirty="0"/>
              <a:t> &amp; </a:t>
            </a:r>
            <a:r>
              <a:rPr lang="el-GR" dirty="0" err="1"/>
              <a:t>restore</a:t>
            </a:r>
            <a:r>
              <a:rPr lang="el-GR" dirty="0"/>
              <a:t> στο main.py — αν η βάση είναι </a:t>
            </a:r>
            <a:r>
              <a:rPr lang="el-GR" dirty="0" err="1"/>
              <a:t>corrupted</a:t>
            </a:r>
            <a:r>
              <a:rPr lang="el-GR" dirty="0"/>
              <a:t>, γίνεται </a:t>
            </a:r>
            <a:r>
              <a:rPr lang="el-GR" dirty="0" err="1"/>
              <a:t>auto-restore</a:t>
            </a:r>
            <a:r>
              <a:rPr lang="el-GR" dirty="0"/>
              <a:t> από το τελευταίο </a:t>
            </a:r>
            <a:r>
              <a:rPr lang="el-GR" dirty="0" err="1"/>
              <a:t>backup</a:t>
            </a:r>
            <a:r>
              <a:rPr lang="el-GR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3D6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E90FF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RandeBoo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731520" y="19202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1E90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Σύστημα Διαχείρισης Ραντεβού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2743200"/>
            <a:ext cx="2286000" cy="27432"/>
          </a:xfrm>
          <a:prstGeom prst="rect">
            <a:avLst/>
          </a:prstGeom>
          <a:solidFill>
            <a:srgbClr val="1E90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29260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Αρχιτεκτονική, Σχεδιασμός και Υλοποίηση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43891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l-GR" sz="11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ΗΛΕ 47</a:t>
            </a:r>
            <a:r>
              <a:rPr lang="en-US" sz="11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Ιούνιος 2026</a:t>
            </a:r>
            <a:endParaRPr lang="en-US" sz="1100" dirty="0">
              <a:solidFill>
                <a:schemeClr val="bg2"/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7315200" y="3017520"/>
            <a:ext cx="1645920" cy="1645920"/>
          </a:xfrm>
          <a:prstGeom prst="ellipse">
            <a:avLst/>
          </a:prstGeom>
          <a:solidFill>
            <a:srgbClr val="1E90FF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583680" y="274320"/>
            <a:ext cx="2286000" cy="2286000"/>
          </a:xfrm>
          <a:prstGeom prst="ellipse">
            <a:avLst/>
          </a:prstGeom>
          <a:solidFill>
            <a:srgbClr val="1877D4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90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57200" y="274320"/>
            <a:ext cx="457200" cy="457200"/>
          </a:xfrm>
          <a:prstGeom prst="ellipse">
            <a:avLst/>
          </a:prstGeom>
          <a:solidFill>
            <a:srgbClr val="0A3D6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51560" y="201168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A3D6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Εισαγωγή &amp; Σκοπός του Έργου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Ποιο πρόβλημα λύνει η εφαρμογή RandeBoo;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1554480"/>
            <a:ext cx="374904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9F0"/>
            </a:solidFill>
            <a:prstDash val="solid"/>
          </a:ln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85800" y="1737360"/>
            <a:ext cx="365760" cy="365760"/>
          </a:xfrm>
          <a:prstGeom prst="ellipse">
            <a:avLst/>
          </a:prstGeom>
          <a:solidFill>
            <a:srgbClr val="1E90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267" y="1817827"/>
            <a:ext cx="204826" cy="20482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88720" y="171907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3D6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Διαχείριση Πελατών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85800" y="219456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Πλήρης καρτέλα πελατών με ιστορικό ραντεβού και φιλτράρισμα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572000" y="1554480"/>
            <a:ext cx="374904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9F0"/>
            </a:solidFill>
            <a:prstDash val="solid"/>
          </a:ln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4754880" y="1737360"/>
            <a:ext cx="365760" cy="365760"/>
          </a:xfrm>
          <a:prstGeom prst="ellipse">
            <a:avLst/>
          </a:prstGeom>
          <a:solidFill>
            <a:srgbClr val="1E90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5347" y="1817827"/>
            <a:ext cx="204826" cy="20482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257800" y="171907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3D6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Διαχείριση Προσωπικού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4754880" y="219456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Ειδικότητες, ωράρια και σύνδεση με υπηρεσίες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502920" y="3291840"/>
            <a:ext cx="374904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9F0"/>
            </a:solidFill>
            <a:prstDash val="solid"/>
          </a:ln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685800" y="3474720"/>
            <a:ext cx="365760" cy="365760"/>
          </a:xfrm>
          <a:prstGeom prst="ellipse">
            <a:avLst/>
          </a:prstGeom>
          <a:solidFill>
            <a:srgbClr val="1E90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6267" y="3555187"/>
            <a:ext cx="204826" cy="204826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188720" y="345643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3D6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Αποφυγή Διπλοκρατήσεων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685800" y="393192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Έλεγχος διαθεσιμότητας σε πραγματικό χρόνο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4572000" y="3291840"/>
            <a:ext cx="374904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9F0"/>
            </a:solidFill>
            <a:prstDash val="solid"/>
          </a:ln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18"/>
          <p:cNvSpPr/>
          <p:nvPr/>
        </p:nvSpPr>
        <p:spPr>
          <a:xfrm>
            <a:off x="4754880" y="3474720"/>
            <a:ext cx="365760" cy="365760"/>
          </a:xfrm>
          <a:prstGeom prst="ellipse">
            <a:avLst/>
          </a:prstGeom>
          <a:solidFill>
            <a:srgbClr val="1E90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35347" y="3555187"/>
            <a:ext cx="204826" cy="204826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257800" y="345643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3D6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Αυτόματες Ειδοποιήσεις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4754880" y="393192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επιβεβαίωσης και υπενθύμισης ραντεβού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90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57200" y="274320"/>
            <a:ext cx="457200" cy="457200"/>
          </a:xfrm>
          <a:prstGeom prst="ellipse">
            <a:avLst/>
          </a:prstGeom>
          <a:solidFill>
            <a:srgbClr val="0A3D6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51560" y="201168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A3D6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Τεχνολογικό Stack &amp; Αρχιτεκτονική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02920" y="1051560"/>
            <a:ext cx="187452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9F0"/>
            </a:solidFill>
            <a:prstDash val="solid"/>
          </a:ln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184148" y="1280160"/>
            <a:ext cx="512064" cy="512064"/>
          </a:xfrm>
          <a:prstGeom prst="ellipse">
            <a:avLst/>
          </a:prstGeom>
          <a:solidFill>
            <a:srgbClr val="1E90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6802" y="1392814"/>
            <a:ext cx="286756" cy="28675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02920" y="192024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3D6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GUI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40080" y="242316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+ Tkinter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styling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l-GR" sz="1100" dirty="0" err="1"/>
              <a:t>Σχεδιασμος</a:t>
            </a:r>
            <a:r>
              <a:rPr lang="el-GR" sz="1100" dirty="0"/>
              <a:t> Ενιαίου Παραθύρου-</a:t>
            </a:r>
            <a:r>
              <a:rPr lang="en-US" sz="1100" dirty="0"/>
              <a:t>SPA</a:t>
            </a:r>
          </a:p>
        </p:txBody>
      </p:sp>
      <p:sp>
        <p:nvSpPr>
          <p:cNvPr id="11" name="Shape 8"/>
          <p:cNvSpPr/>
          <p:nvPr/>
        </p:nvSpPr>
        <p:spPr>
          <a:xfrm>
            <a:off x="2606040" y="1051560"/>
            <a:ext cx="187452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9F0"/>
            </a:solidFill>
            <a:prstDash val="solid"/>
          </a:ln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3287268" y="1280160"/>
            <a:ext cx="512064" cy="512064"/>
          </a:xfrm>
          <a:prstGeom prst="ellipse">
            <a:avLst/>
          </a:prstGeom>
          <a:solidFill>
            <a:srgbClr val="1E90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99922" y="1392814"/>
            <a:ext cx="286756" cy="28675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606040" y="192024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3D6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Database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2743200" y="242316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Τοπική &amp; ελαφριά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l-GR" sz="1100" dirty="0" err="1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Παραμετροποιημένα</a:t>
            </a:r>
            <a:r>
              <a:rPr lang="el-GR" sz="11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ερωτήματα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4709160" y="1051560"/>
            <a:ext cx="187452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9F0"/>
            </a:solidFill>
            <a:prstDash val="solid"/>
          </a:ln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5390388" y="1280160"/>
            <a:ext cx="512064" cy="512064"/>
          </a:xfrm>
          <a:prstGeom prst="ellipse">
            <a:avLst/>
          </a:prstGeom>
          <a:solidFill>
            <a:srgbClr val="1E90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03042" y="1392814"/>
            <a:ext cx="286756" cy="28675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709160" y="192024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3D6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Υπηρεσίες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4846320" y="242316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SMTP Email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Backup/Restore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Excel/CSV/PDF Export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6812280" y="1051560"/>
            <a:ext cx="187452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9F0"/>
            </a:solidFill>
            <a:prstDash val="solid"/>
          </a:ln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7"/>
          <p:cNvSpPr/>
          <p:nvPr/>
        </p:nvSpPr>
        <p:spPr>
          <a:xfrm>
            <a:off x="7493508" y="1280160"/>
            <a:ext cx="512064" cy="512064"/>
          </a:xfrm>
          <a:prstGeom prst="ellipse">
            <a:avLst/>
          </a:prstGeom>
          <a:solidFill>
            <a:srgbClr val="1E90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06162" y="1392814"/>
            <a:ext cx="286756" cy="286756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812280" y="192024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3D6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Packaging</a:t>
            </a:r>
            <a:endParaRPr lang="en-US" sz="1400" dirty="0"/>
          </a:p>
        </p:txBody>
      </p:sp>
      <p:sp>
        <p:nvSpPr>
          <p:cNvPr id="25" name="Text 19"/>
          <p:cNvSpPr/>
          <p:nvPr/>
        </p:nvSpPr>
        <p:spPr>
          <a:xfrm>
            <a:off x="6949440" y="242316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PyInstaller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.spec configuration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Standalone .exe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90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57200" y="274320"/>
            <a:ext cx="457200" cy="457200"/>
          </a:xfrm>
          <a:prstGeom prst="ellipse">
            <a:avLst/>
          </a:prstGeom>
          <a:solidFill>
            <a:srgbClr val="0A3D6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51560" y="201168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A3D6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Βάση Δεδομένων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4617720" y="105156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3D6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database.py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4617720" y="1463040"/>
            <a:ext cx="1828800" cy="27432"/>
          </a:xfrm>
          <a:prstGeom prst="rect">
            <a:avLst/>
          </a:prstGeom>
          <a:solidFill>
            <a:srgbClr val="1E90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4617720" y="1645920"/>
            <a:ext cx="4023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b="1" dirty="0">
                <a:solidFill>
                  <a:srgbClr val="1E9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b="1" dirty="0">
                <a:solidFill>
                  <a:srgbClr val="1E9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b="1" dirty="0">
                <a:solidFill>
                  <a:srgbClr val="1E9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Appointments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b="1" dirty="0">
                <a:solidFill>
                  <a:srgbClr val="1E9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b="1" dirty="0">
                <a:solidFill>
                  <a:srgbClr val="1E9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b="1" dirty="0">
                <a:solidFill>
                  <a:srgbClr val="1E9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617720" y="2926080"/>
            <a:ext cx="4023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Σχεσιακή δομή με FOREIGN KEYS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Constraints: UNIQUE, NOT NULL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(Admin vs Employee)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Αυτόματη διαχείριση ακεραιότητας</a:t>
            </a:r>
            <a:endParaRPr lang="en-US" sz="120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1B1F9490-CC2B-668A-166D-0E4AD6BD44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165" y="849902"/>
            <a:ext cx="3969476" cy="396947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97B30BC5-2AD4-AF34-21C0-5EA074D568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69317"/>
            <a:ext cx="4023360" cy="3164885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90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57200" y="274320"/>
            <a:ext cx="457200" cy="457200"/>
          </a:xfrm>
          <a:prstGeom prst="ellipse">
            <a:avLst/>
          </a:prstGeom>
          <a:solidFill>
            <a:srgbClr val="0A3D6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51560" y="201168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A3D6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Είσοδος &amp; Ασφάλεια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4846322" y="919618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3D6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gui_login.py &amp; gui_users.py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846322" y="1331098"/>
            <a:ext cx="1828800" cy="27432"/>
          </a:xfrm>
          <a:prstGeom prst="rect">
            <a:avLst/>
          </a:prstGeom>
          <a:solidFill>
            <a:srgbClr val="1E90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846322" y="1513978"/>
            <a:ext cx="4023360" cy="1005840"/>
          </a:xfrm>
          <a:prstGeom prst="rect">
            <a:avLst/>
          </a:prstGeom>
          <a:solidFill>
            <a:srgbClr val="E8F4FD"/>
          </a:solidFill>
          <a:ln w="6350">
            <a:solidFill>
              <a:srgbClr val="E5E9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4983482" y="1651138"/>
            <a:ext cx="365760" cy="365760"/>
          </a:xfrm>
          <a:prstGeom prst="ellipse">
            <a:avLst/>
          </a:prstGeom>
          <a:solidFill>
            <a:srgbClr val="1E90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63949" y="1731605"/>
            <a:ext cx="204826" cy="20482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486402" y="155969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3D6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Role-Based Access Control (RBAC)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5486402" y="187973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Διαφορετικά δικαιώματα για Διαχειριστές (Admins) και Υπαλλήλους.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4846322" y="2702698"/>
            <a:ext cx="4023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Ασφαλής αποθήκευση κωδικών (bcrypt hashing)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Έλεγχος ρόλων κατά τη σύνδεση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Αυτόματη ανακατεύθυνση βάσει δικαιωμάτων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90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57200" y="274320"/>
            <a:ext cx="457200" cy="457200"/>
          </a:xfrm>
          <a:prstGeom prst="ellipse">
            <a:avLst/>
          </a:prstGeom>
          <a:solidFill>
            <a:srgbClr val="0A3D6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51560" y="201168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A3D6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Διαχείριση Ραντεβού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502920" y="105156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3D6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gui_appointments.py &amp; gui_quick_booking.py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02920" y="1463040"/>
            <a:ext cx="1828800" cy="27432"/>
          </a:xfrm>
          <a:prstGeom prst="rect">
            <a:avLst/>
          </a:prstGeom>
          <a:solidFill>
            <a:srgbClr val="1E90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502920" y="1645920"/>
            <a:ext cx="40233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Έλεγχος διαθεσιμότητας σε πραγματικό χρόνο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Αποφυγή διπλοκρατήσεων στον ίδιο υπάλληλο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Ενσωμάτωση αργιών (holidays library)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Ωράριο λειτουργίας &amp; ρεπό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Γρήγορη κράτηση (Quick Booking) με έξυπνα φίλτρα</a:t>
            </a:r>
            <a:endParaRPr lang="en-US" sz="1200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87659CCD-7669-DE25-267A-570E11FA8C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3493" y="978408"/>
            <a:ext cx="4287587" cy="316382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90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57200" y="274320"/>
            <a:ext cx="457200" cy="457200"/>
          </a:xfrm>
          <a:prstGeom prst="ellipse">
            <a:avLst/>
          </a:prstGeom>
          <a:solidFill>
            <a:srgbClr val="0A3D6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51560" y="201168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A3D6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Μητρώα Πελατών &amp; Προσωπικού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5120640" y="998982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3D6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gui_customers.py &amp; gui_employees.py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120640" y="1410462"/>
            <a:ext cx="1828800" cy="27432"/>
          </a:xfrm>
          <a:prstGeom prst="rect">
            <a:avLst/>
          </a:prstGeom>
          <a:solidFill>
            <a:srgbClr val="1E90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5120640" y="1593342"/>
            <a:ext cx="40233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Πλήρης κύκλος CRUD (Create, Read, Update, Delete)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filtering π</a:t>
            </a:r>
            <a:r>
              <a:rPr lang="en-US" sz="1200" dirty="0" err="1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ελ</a:t>
            </a:r>
            <a:r>
              <a:rPr lang="en-US" sz="12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ατολογίου</a:t>
            </a:r>
            <a:r>
              <a:rPr lang="el-GR" sz="12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/εργαζομένων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Cascade διαγραφές συνδεδεμένων ραντεβού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 err="1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Ημερομηνίες</a:t>
            </a:r>
            <a:r>
              <a:rPr lang="en-US" sz="12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πρόσληψης &amp; στοιχεία επικοινωνίας</a:t>
            </a:r>
            <a:endParaRPr lang="en-US" sz="12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CF3318AC-42EB-6A0E-7833-3C0C89A6F4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989838"/>
            <a:ext cx="4296231" cy="316382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90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57200" y="274320"/>
            <a:ext cx="457200" cy="457200"/>
          </a:xfrm>
          <a:prstGeom prst="ellipse">
            <a:avLst/>
          </a:prstGeom>
          <a:solidFill>
            <a:srgbClr val="0A3D6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51560" y="201168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A3D6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Αναζήτηση &amp; Στατιστικά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502920" y="105156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3D6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gui_search.py, search.py &amp; gui_stats.py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02920" y="1463040"/>
            <a:ext cx="1828800" cy="27432"/>
          </a:xfrm>
          <a:prstGeom prst="rect">
            <a:avLst/>
          </a:prstGeom>
          <a:solidFill>
            <a:srgbClr val="1E90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502920" y="1645920"/>
            <a:ext cx="40233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Σύνθετα φίλτρα αναζήτησης (ημερομηνίες, κατάσταση)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Οπτικοποίηση δεδομένων (Matplotlib plots)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πελάτες &amp; απόδοση υπαλλήλων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Εξαγωγή αναφορών (export_data.py) σε PDF/Excel/CSV</a:t>
            </a:r>
            <a:endParaRPr lang="en-US" sz="12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30E7AB0-C6F0-E078-8F12-FAEE853F24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989838"/>
            <a:ext cx="4287587" cy="316382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90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57200" y="274320"/>
            <a:ext cx="457200" cy="457200"/>
          </a:xfrm>
          <a:prstGeom prst="ellipse">
            <a:avLst/>
          </a:prstGeom>
          <a:solidFill>
            <a:srgbClr val="0A3D6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51560" y="201168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A3D6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Ρυθμίσεις, Email &amp; Αντίγραφα Ασφαλείας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4687520" y="105156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3D6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gui_settings.py, email_service.py &amp; backup.py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687520" y="1463040"/>
            <a:ext cx="1828800" cy="27432"/>
          </a:xfrm>
          <a:prstGeom prst="rect">
            <a:avLst/>
          </a:prstGeom>
          <a:solidFill>
            <a:srgbClr val="1E90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4687520" y="1645920"/>
            <a:ext cx="40233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Παραμετροποίηση επιχείρησης (ωράριο, ρεπό, αργίες)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SMTP settings &amp; αυτόματα email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Υπενθυμίσεις ραντεβού &amp; .ics αρχεία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Ασύγχρονη αποστολή (χωρίς πάγωμα UI)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Αυτόματο Backup/Restore βάσης δεδομένων</a:t>
            </a:r>
            <a:endParaRPr lang="en-US" sz="12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D53DBEE-B622-9A0A-7372-B4BB540D06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413" y="989838"/>
            <a:ext cx="4287587" cy="316382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90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57200" y="274320"/>
            <a:ext cx="457200" cy="457200"/>
          </a:xfrm>
          <a:prstGeom prst="ellipse">
            <a:avLst/>
          </a:prstGeom>
          <a:solidFill>
            <a:srgbClr val="0A3D6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51560" y="201168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A3D6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Προκλήσεις κατά την Υλοποίηση &amp; Λύσεις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02920" y="1051560"/>
            <a:ext cx="2560320" cy="3252810"/>
          </a:xfrm>
          <a:prstGeom prst="rect">
            <a:avLst/>
          </a:prstGeom>
          <a:solidFill>
            <a:srgbClr val="FFFFFF"/>
          </a:solidFill>
          <a:ln w="6350">
            <a:solidFill>
              <a:srgbClr val="E5E9F0"/>
            </a:solidFill>
            <a:prstDash val="solid"/>
          </a:ln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554480" y="1234440"/>
            <a:ext cx="457200" cy="457200"/>
          </a:xfrm>
          <a:prstGeom prst="ellipse">
            <a:avLst/>
          </a:prstGeom>
          <a:solidFill>
            <a:srgbClr val="1E90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5064" y="1335024"/>
            <a:ext cx="256032" cy="25603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0080" y="18288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3D6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PyInstaller &amp; holidays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40080" y="2148840"/>
            <a:ext cx="2286000" cy="914400"/>
          </a:xfrm>
          <a:prstGeom prst="rect">
            <a:avLst/>
          </a:prstGeom>
          <a:solidFill>
            <a:srgbClr val="FFF0F0"/>
          </a:solidFill>
          <a:ln w="6350">
            <a:solidFill>
              <a:srgbClr val="FF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731520" y="219456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CC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Πρόβλημα: </a:t>
            </a:r>
            <a:r>
              <a:rPr lang="en-US" sz="10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Το holidays module δεν συμπεριλαμβανόταν αυτόματα στο build.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640080" y="3200400"/>
            <a:ext cx="2286000" cy="914400"/>
          </a:xfrm>
          <a:prstGeom prst="rect">
            <a:avLst/>
          </a:prstGeom>
          <a:solidFill>
            <a:srgbClr val="F0FFF0"/>
          </a:solidFill>
          <a:ln w="6350">
            <a:solidFill>
              <a:srgbClr val="BBDD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731520" y="324612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228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Λύση: </a:t>
            </a:r>
            <a:r>
              <a:rPr lang="en-US" sz="10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Ρύθμιση hidden imports στο .spec αρχείο.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3337560" y="1051559"/>
            <a:ext cx="2560320" cy="3252811"/>
          </a:xfrm>
          <a:prstGeom prst="rect">
            <a:avLst/>
          </a:prstGeom>
          <a:solidFill>
            <a:srgbClr val="FFFFFF"/>
          </a:solidFill>
          <a:ln w="6350">
            <a:solidFill>
              <a:srgbClr val="E5E9F0"/>
            </a:solidFill>
            <a:prstDash val="solid"/>
          </a:ln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4389120" y="1234440"/>
            <a:ext cx="457200" cy="457200"/>
          </a:xfrm>
          <a:prstGeom prst="ellipse">
            <a:avLst/>
          </a:prstGeom>
          <a:solidFill>
            <a:srgbClr val="1E90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9704" y="1335024"/>
            <a:ext cx="256032" cy="25603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474720" y="18288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0A3D6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Single Page UI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3474720" y="2148840"/>
            <a:ext cx="2286000" cy="914400"/>
          </a:xfrm>
          <a:prstGeom prst="rect">
            <a:avLst/>
          </a:prstGeom>
          <a:solidFill>
            <a:srgbClr val="FFF0F0"/>
          </a:solidFill>
          <a:ln w="6350">
            <a:solidFill>
              <a:srgbClr val="FF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5"/>
          <p:cNvSpPr/>
          <p:nvPr/>
        </p:nvSpPr>
        <p:spPr>
          <a:xfrm>
            <a:off x="3566160" y="219456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>
                <a:solidFill>
                  <a:srgbClr val="CC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Πρόβλημα: </a:t>
            </a:r>
            <a:r>
              <a:rPr lang="en-US" sz="90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Η προεπιλεγμένη τάση στο Tkinter είναι η δημιουργία πολλαπλών αναδυόμενων παραθύρων (Toplevel) για κάθε λειτουργία, κάτι που οδηγεί σε χαοτικό UI, προβλήματα εστίασης (focus) και κακή εμπειρία χρήστη.</a:t>
            </a:r>
            <a:endParaRPr lang="en-US" sz="900"/>
          </a:p>
        </p:txBody>
      </p:sp>
      <p:sp>
        <p:nvSpPr>
          <p:cNvPr id="20" name="Shape 16"/>
          <p:cNvSpPr/>
          <p:nvPr/>
        </p:nvSpPr>
        <p:spPr>
          <a:xfrm>
            <a:off x="3474720" y="3200400"/>
            <a:ext cx="2286000" cy="914400"/>
          </a:xfrm>
          <a:prstGeom prst="rect">
            <a:avLst/>
          </a:prstGeom>
          <a:solidFill>
            <a:srgbClr val="F0FFF0"/>
          </a:solidFill>
          <a:ln w="6350">
            <a:solidFill>
              <a:srgbClr val="BBDD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7"/>
          <p:cNvSpPr/>
          <p:nvPr/>
        </p:nvSpPr>
        <p:spPr>
          <a:xfrm>
            <a:off x="3566160" y="324612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>
                <a:solidFill>
                  <a:srgbClr val="228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Λύση: </a:t>
            </a:r>
            <a:r>
              <a:rPr lang="en-US" sz="90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Σχεδιασμός Single Page Application (SPA) με δυναμικό καθαρισμό και φόρτωση Frames σε ένα κεντρικό container, διατηρώντας το UI σταθερό, γρήγορο και καθαρό.</a:t>
            </a:r>
            <a:endParaRPr lang="en-US" sz="900"/>
          </a:p>
        </p:txBody>
      </p:sp>
      <p:sp>
        <p:nvSpPr>
          <p:cNvPr id="22" name="Shape 18"/>
          <p:cNvSpPr/>
          <p:nvPr/>
        </p:nvSpPr>
        <p:spPr>
          <a:xfrm>
            <a:off x="6172200" y="1051560"/>
            <a:ext cx="2560320" cy="3252810"/>
          </a:xfrm>
          <a:prstGeom prst="rect">
            <a:avLst/>
          </a:prstGeom>
          <a:solidFill>
            <a:srgbClr val="FFFFFF"/>
          </a:solidFill>
          <a:ln w="6350">
            <a:solidFill>
              <a:srgbClr val="E5E9F0"/>
            </a:solidFill>
            <a:prstDash val="solid"/>
          </a:ln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19"/>
          <p:cNvSpPr/>
          <p:nvPr/>
        </p:nvSpPr>
        <p:spPr>
          <a:xfrm>
            <a:off x="7223760" y="1234440"/>
            <a:ext cx="457200" cy="457200"/>
          </a:xfrm>
          <a:prstGeom prst="ellipse">
            <a:avLst/>
          </a:prstGeom>
          <a:solidFill>
            <a:srgbClr val="1E90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24344" y="1335024"/>
            <a:ext cx="256032" cy="256032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6309360" y="18288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3D6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Safe Mode Recovery</a:t>
            </a:r>
            <a:endParaRPr lang="en-US" sz="1200" dirty="0"/>
          </a:p>
        </p:txBody>
      </p:sp>
      <p:sp>
        <p:nvSpPr>
          <p:cNvPr id="26" name="Shape 21"/>
          <p:cNvSpPr/>
          <p:nvPr/>
        </p:nvSpPr>
        <p:spPr>
          <a:xfrm>
            <a:off x="6309360" y="2148839"/>
            <a:ext cx="2286000" cy="914401"/>
          </a:xfrm>
          <a:prstGeom prst="rect">
            <a:avLst/>
          </a:prstGeom>
          <a:solidFill>
            <a:srgbClr val="FFF0F0"/>
          </a:solidFill>
          <a:ln w="6350">
            <a:solidFill>
              <a:srgbClr val="FF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2"/>
          <p:cNvSpPr/>
          <p:nvPr/>
        </p:nvSpPr>
        <p:spPr>
          <a:xfrm>
            <a:off x="6400800" y="219456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CC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Πρόβλημα: </a:t>
            </a:r>
            <a:r>
              <a:rPr lang="en-US" sz="10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Κατεστραμμένη βάση μετά από απρόσμενο κλείσιμο.</a:t>
            </a:r>
            <a:endParaRPr lang="en-US" sz="1000" dirty="0"/>
          </a:p>
        </p:txBody>
      </p:sp>
      <p:sp>
        <p:nvSpPr>
          <p:cNvPr id="28" name="Shape 23"/>
          <p:cNvSpPr/>
          <p:nvPr/>
        </p:nvSpPr>
        <p:spPr>
          <a:xfrm>
            <a:off x="6309360" y="3200400"/>
            <a:ext cx="2286000" cy="891540"/>
          </a:xfrm>
          <a:prstGeom prst="rect">
            <a:avLst/>
          </a:prstGeom>
          <a:solidFill>
            <a:srgbClr val="F0FFF0"/>
          </a:solidFill>
          <a:ln w="6350">
            <a:solidFill>
              <a:srgbClr val="BBDD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4"/>
          <p:cNvSpPr/>
          <p:nvPr/>
        </p:nvSpPr>
        <p:spPr>
          <a:xfrm>
            <a:off x="6400800" y="324612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228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Λύση: </a:t>
            </a:r>
            <a:r>
              <a:rPr lang="en-US" sz="10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Αυτόματο backup &amp; restore μηχανισμός στο main.py.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3D6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" y="0"/>
            <a:ext cx="93785" cy="5143500"/>
          </a:xfrm>
          <a:prstGeom prst="rect">
            <a:avLst/>
          </a:prstGeom>
          <a:solidFill>
            <a:srgbClr val="1E90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itle"/>
          <p:cNvSpPr/>
          <p:nvPr/>
        </p:nvSpPr>
        <p:spPr>
          <a:xfrm>
            <a:off x="457200" y="11887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Ευχαριστούμε!</a:t>
            </a:r>
            <a:endParaRPr lang="en-US" sz="4400"/>
          </a:p>
        </p:txBody>
      </p:sp>
      <p:sp>
        <p:nvSpPr>
          <p:cNvPr id="4" name="Subtitle"/>
          <p:cNvSpPr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i="1">
                <a:solidFill>
                  <a:srgbClr val="1E9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Ερωτήσεις;</a:t>
            </a:r>
            <a:endParaRPr lang="en-US" sz="2000"/>
          </a:p>
        </p:txBody>
      </p:sp>
      <p:sp>
        <p:nvSpPr>
          <p:cNvPr id="5" name="Divider"/>
          <p:cNvSpPr/>
          <p:nvPr/>
        </p:nvSpPr>
        <p:spPr>
          <a:xfrm>
            <a:off x="3657600" y="2057400"/>
            <a:ext cx="1828800" cy="27432"/>
          </a:xfrm>
          <a:prstGeom prst="rect">
            <a:avLst/>
          </a:prstGeom>
          <a:solidFill>
            <a:srgbClr val="1E90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Divider2"/>
          <p:cNvSpPr/>
          <p:nvPr/>
        </p:nvSpPr>
        <p:spPr>
          <a:xfrm>
            <a:off x="2743200" y="3200400"/>
            <a:ext cx="3657600" cy="27432"/>
          </a:xfrm>
          <a:prstGeom prst="rect">
            <a:avLst/>
          </a:prstGeom>
          <a:solidFill>
            <a:srgbClr val="1E90FF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amLabel"/>
          <p:cNvSpPr/>
          <p:nvPr/>
        </p:nvSpPr>
        <p:spPr>
          <a:xfrm>
            <a:off x="457200" y="3383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1E90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Ομάδα Ανάπτυξης</a:t>
            </a:r>
            <a:endParaRPr lang="en-US" sz="1000"/>
          </a:p>
        </p:txBody>
      </p:sp>
      <p:sp>
        <p:nvSpPr>
          <p:cNvPr id="8" name="TeamNames"/>
          <p:cNvSpPr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l-GR" sz="1200" dirty="0" err="1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Καναβού</a:t>
            </a:r>
            <a:r>
              <a:rPr lang="el-GR" sz="1200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Καλλιόπη  ·  </a:t>
            </a:r>
            <a:r>
              <a:rPr lang="el-GR" sz="1200" dirty="0" err="1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Ασπρίδης</a:t>
            </a:r>
            <a:r>
              <a:rPr lang="el-GR" sz="1200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Δημήτρης  ·  </a:t>
            </a:r>
            <a:r>
              <a:rPr lang="el-GR" sz="1200" dirty="0" err="1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Βαρθαλίτης</a:t>
            </a:r>
            <a:r>
              <a:rPr lang="el-GR" sz="1200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Πάνος</a:t>
            </a:r>
          </a:p>
          <a:p>
            <a:pPr marL="0" indent="0" algn="ctr">
              <a:buNone/>
            </a:pPr>
            <a:r>
              <a:rPr lang="el-GR" sz="120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Καταξενός </a:t>
            </a:r>
            <a:r>
              <a:rPr lang="el-GR" sz="1200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Χρήστος  ·  Κονδύλης Γιώργος</a:t>
            </a:r>
            <a:endParaRPr lang="el-GR" sz="1200" dirty="0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F9F52075-4821-D9C1-C807-983A9D6012F7}"/>
              </a:ext>
            </a:extLst>
          </p:cNvPr>
          <p:cNvSpPr/>
          <p:nvPr/>
        </p:nvSpPr>
        <p:spPr>
          <a:xfrm>
            <a:off x="7315200" y="3017520"/>
            <a:ext cx="1645920" cy="1645920"/>
          </a:xfrm>
          <a:prstGeom prst="ellipse">
            <a:avLst/>
          </a:prstGeom>
          <a:solidFill>
            <a:srgbClr val="1E90FF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875BB725-D24A-0CBB-FD69-1EF39F923910}"/>
              </a:ext>
            </a:extLst>
          </p:cNvPr>
          <p:cNvSpPr/>
          <p:nvPr/>
        </p:nvSpPr>
        <p:spPr>
          <a:xfrm>
            <a:off x="6583680" y="274320"/>
            <a:ext cx="2286000" cy="2286000"/>
          </a:xfrm>
          <a:prstGeom prst="ellipse">
            <a:avLst/>
          </a:prstGeom>
          <a:solidFill>
            <a:srgbClr val="1877D4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397</TotalTime>
  <Words>1425</Words>
  <Application>Microsoft Office PowerPoint</Application>
  <PresentationFormat>On-screen Show (16:9)</PresentationFormat>
  <Paragraphs>206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Christos Kataxenos</dc:creator>
  <cp:lastModifiedBy>Christos Kataxenos</cp:lastModifiedBy>
  <cp:revision>6</cp:revision>
  <dcterms:created xsi:type="dcterms:W3CDTF">2026-06-02T16:20:09Z</dcterms:created>
  <dcterms:modified xsi:type="dcterms:W3CDTF">2026-06-04T14:11:16Z</dcterms:modified>
</cp:coreProperties>
</file>